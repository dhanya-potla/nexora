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SupplyWise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FF6600"/>
                </a:solidFill>
              </a:defRPr>
            </a:pPr>
            <a:r>
              <a:t>AI-Powered Procurement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Transforming Supplier Visibility with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The Problem: Supplier Visibility Crisis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FF6600"/>
                </a:solidFill>
              </a:defRPr>
            </a:pPr>
            <a:r>
              <a:t>"Lack of supplier visibility is the #1 operational problem - ahead of cost and disruption frequency"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645920" cy="822960"/>
          </a:xfrm>
          <a:prstGeom prst="rect">
            <a:avLst/>
          </a:prstGeom>
          <a:solidFill>
            <a:srgbClr val="2E7D32"/>
          </a:solidFill>
        </p:spPr>
        <p:txBody>
          <a:bodyPr wrap="non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80%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514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3366"/>
                </a:solidFill>
              </a:defRPr>
            </a:pPr>
            <a:r>
              <a:t>Need better visibility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657600"/>
            <a:ext cx="1645920" cy="822960"/>
          </a:xfrm>
          <a:prstGeom prst="rect">
            <a:avLst/>
          </a:prstGeom>
          <a:solidFill>
            <a:srgbClr val="FF9800"/>
          </a:solidFill>
        </p:spPr>
        <p:txBody>
          <a:bodyPr wrap="non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68%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3794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3366"/>
                </a:solidFill>
              </a:defRPr>
            </a:pPr>
            <a:r>
              <a:t>Cite disruption as top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937760"/>
            <a:ext cx="1645920" cy="822960"/>
          </a:xfrm>
          <a:prstGeom prst="rect">
            <a:avLst/>
          </a:prstGeom>
          <a:solidFill>
            <a:srgbClr val="D32F2F"/>
          </a:solidFill>
        </p:spPr>
        <p:txBody>
          <a:bodyPr wrap="non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21%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50749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3366"/>
                </a:solidFill>
              </a:defRPr>
            </a:pPr>
            <a:r>
              <a:t>Lack risk monitoring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0350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t>💡 Core Issue: Data exists but is IMPOSSIBLE to query fast enough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The Solution: Natural Language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31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000"/>
            </a:pPr>
            <a:r>
              <a:t>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600"/>
                </a:solidFill>
              </a:defRPr>
            </a:pPr>
            <a:r>
              <a:t>Natural Language</a:t>
            </a:r>
          </a:p>
          <a:p>
            <a:pPr>
              <a:spcBef>
                <a:spcPts val="600"/>
              </a:spcBef>
              <a:defRPr sz="1400"/>
            </a:pPr>
            <a:r>
              <a:t>Ask questions in plain English, get instant answers from real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59" y="1371600"/>
            <a:ext cx="731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000"/>
            </a:pPr>
            <a: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59" y="137160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600"/>
                </a:solidFill>
              </a:defRPr>
            </a:pPr>
            <a:r>
              <a:t>Explainable Risk</a:t>
            </a:r>
          </a:p>
          <a:p>
            <a:pPr>
              <a:spcBef>
                <a:spcPts val="600"/>
              </a:spcBef>
              <a:defRPr sz="1400"/>
            </a:pPr>
            <a:r>
              <a:t>See WHY a supplier is risky, with exact thresholds and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731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000"/>
            </a:pPr>
            <a:r>
              <a:t>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600"/>
                </a:solidFill>
              </a:defRPr>
            </a:pPr>
            <a:r>
              <a:t>Instant Contact</a:t>
            </a:r>
          </a:p>
          <a:p>
            <a:pPr>
              <a:spcBef>
                <a:spcPts val="600"/>
              </a:spcBef>
              <a:defRPr sz="1400"/>
            </a:pPr>
            <a:r>
              <a:t>Phone numbers and addresses included - find and call in one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3657600"/>
            <a:ext cx="731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000"/>
            </a:pPr>
            <a: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59" y="365760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600"/>
                </a:solidFill>
              </a:defRPr>
            </a:pPr>
            <a:r>
              <a:t>Smart Matching</a:t>
            </a:r>
          </a:p>
          <a:p>
            <a:pPr>
              <a:spcBef>
                <a:spcPts val="600"/>
              </a:spcBef>
              <a:defRPr sz="1400"/>
            </a:pPr>
            <a:r>
              <a:t>AI understands context - finds suppliers even with different terms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Hybrid RAG Architecture</a:t>
            </a:r>
          </a:p>
        </p:txBody>
      </p:sp>
      <p:pic>
        <p:nvPicPr>
          <p:cNvPr id="3" name="Picture 2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Enterprise Technology Stack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286000"/>
                <a:gridCol w="2926080"/>
              </a:tblGrid>
              <a:tr h="3810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91440" marR="9144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 marL="91440" marR="9144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 marL="91440" marR="91440">
                    <a:solidFill>
                      <a:srgbClr val="0033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/>
                        <a:t>Vector Search</a:t>
                      </a:r>
                    </a:p>
                  </a:txBody>
                  <a:tcPr marL="91440" marR="91440"/>
                </a:tc>
                <a:tc>
                  <a:txBody>
                    <a:bodyPr/>
                    <a:lstStyle/>
                    <a:p>
                      <a:r>
                        <a:rPr sz="1300"/>
                        <a:t>FAISS</a:t>
                      </a:r>
                    </a:p>
                  </a:txBody>
                  <a:tcPr marL="91440" marR="91440"/>
                </a:tc>
                <a:tc>
                  <a:txBody>
                    <a:bodyPr/>
                    <a:lstStyle/>
                    <a:p>
                      <a:r>
                        <a:rPr sz="1300"/>
                        <a:t>Semantic similarity</a:t>
                      </a:r>
                    </a:p>
                  </a:txBody>
                  <a:tcPr marL="91440" marR="91440"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/>
                        <a:t>Knowledge Graph</a:t>
                      </a:r>
                    </a:p>
                  </a:txBody>
                  <a:tcPr marL="91440" marR="91440"/>
                </a:tc>
                <a:tc>
                  <a:txBody>
                    <a:bodyPr/>
                    <a:lstStyle/>
                    <a:p>
                      <a:r>
                        <a:rPr sz="1300"/>
                        <a:t>Neo4j</a:t>
                      </a:r>
                    </a:p>
                  </a:txBody>
                  <a:tcPr marL="91440" marR="91440"/>
                </a:tc>
                <a:tc>
                  <a:txBody>
                    <a:bodyPr/>
                    <a:lstStyle/>
                    <a:p>
                      <a:r>
                        <a:rPr sz="1300"/>
                        <a:t>Entity relationships</a:t>
                      </a:r>
                    </a:p>
                  </a:txBody>
                  <a:tcPr marL="91440" marR="91440"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/>
                        <a:t>AI Engine</a:t>
                      </a:r>
                    </a:p>
                  </a:txBody>
                  <a:tcPr marL="91440" marR="91440"/>
                </a:tc>
                <a:tc>
                  <a:txBody>
                    <a:bodyPr/>
                    <a:lstStyle/>
                    <a:p>
                      <a:r>
                        <a:rPr sz="1300"/>
                        <a:t>LLaMA3</a:t>
                      </a:r>
                    </a:p>
                  </a:txBody>
                  <a:tcPr marL="91440" marR="91440"/>
                </a:tc>
                <a:tc>
                  <a:txBody>
                    <a:bodyPr/>
                    <a:lstStyle/>
                    <a:p>
                      <a:r>
                        <a:rPr sz="1300"/>
                        <a:t>Natural language</a:t>
                      </a:r>
                    </a:p>
                  </a:txBody>
                  <a:tcPr marL="91440" marR="91440"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/>
                        <a:t>Backend</a:t>
                      </a:r>
                    </a:p>
                  </a:txBody>
                  <a:tcPr marL="91440" marR="91440"/>
                </a:tc>
                <a:tc>
                  <a:txBody>
                    <a:bodyPr/>
                    <a:lstStyle/>
                    <a:p>
                      <a:r>
                        <a:rPr sz="1300"/>
                        <a:t>FastAPI</a:t>
                      </a:r>
                    </a:p>
                  </a:txBody>
                  <a:tcPr marL="91440" marR="91440"/>
                </a:tc>
                <a:tc>
                  <a:txBody>
                    <a:bodyPr/>
                    <a:lstStyle/>
                    <a:p>
                      <a:r>
                        <a:rPr sz="1300"/>
                        <a:t>REST API</a:t>
                      </a:r>
                    </a:p>
                  </a:txBody>
                  <a:tcPr marL="91440" marR="91440"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/>
                        <a:t>Risk Model</a:t>
                      </a:r>
                    </a:p>
                  </a:txBody>
                  <a:tcPr marL="91440" marR="91440"/>
                </a:tc>
                <a:tc>
                  <a:txBody>
                    <a:bodyPr/>
                    <a:lstStyle/>
                    <a:p>
                      <a:r>
                        <a:rPr sz="1300"/>
                        <a:t>Scikit-learn</a:t>
                      </a:r>
                    </a:p>
                  </a:txBody>
                  <a:tcPr marL="91440" marR="91440"/>
                </a:tc>
                <a:tc>
                  <a:txBody>
                    <a:bodyPr/>
                    <a:lstStyle/>
                    <a:p>
                      <a:r>
                        <a:rPr sz="1300"/>
                        <a:t>ML scoring</a:t>
                      </a:r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97280" y="3931920"/>
            <a:ext cx="6949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600"/>
                </a:solidFill>
              </a:defRPr>
            </a:pPr>
            <a:r>
              <a:t>✅ Key Features</a:t>
            </a:r>
          </a:p>
          <a:p>
            <a:pPr>
              <a:spcBef>
                <a:spcPts val="600"/>
              </a:spcBef>
              <a:defRPr sz="1500"/>
            </a:pPr>
            <a:r>
              <a:t>• 100% Self-Hosted - Your data stays in your infrastructure</a:t>
            </a:r>
          </a:p>
          <a:p>
            <a:pPr>
              <a:spcBef>
                <a:spcPts val="600"/>
              </a:spcBef>
              <a:defRPr sz="1500"/>
            </a:pPr>
            <a:r>
              <a:t>• Real Supplier Data - 30+ verified businesses</a:t>
            </a:r>
          </a:p>
          <a:p>
            <a:pPr>
              <a:spcBef>
                <a:spcPts val="600"/>
              </a:spcBef>
              <a:defRPr sz="1500"/>
            </a:pPr>
            <a:r>
              <a:t>• Sub-Second Response - Instant answers</a:t>
            </a:r>
          </a:p>
          <a:p>
            <a:pPr>
              <a:spcBef>
                <a:spcPts val="600"/>
              </a:spcBef>
              <a:defRPr sz="1500"/>
            </a:pPr>
            <a:r>
              <a:t>• Explainable AI - See the reasoning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Live Dashboard Interface</a:t>
            </a:r>
          </a:p>
        </p:txBody>
      </p:sp>
      <p:pic>
        <p:nvPicPr>
          <p:cNvPr id="3" name="Picture 2" descr="dashboard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6809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Natural Language Query Interface</a:t>
            </a:r>
          </a:p>
        </p:txBody>
      </p:sp>
      <p:pic>
        <p:nvPicPr>
          <p:cNvPr id="3" name="Picture 2" descr="query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6809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Real-World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Question: "Which metal fabrication suppliers are high risk?"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3474720" cy="2286000"/>
          </a:xfrm>
          <a:prstGeom prst="rect">
            <a:avLst/>
          </a:prstGeom>
          <a:solidFill>
            <a:srgbClr val="FFEBEE"/>
          </a:solidFill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32F2F"/>
                </a:solidFill>
              </a:defRPr>
            </a:pPr>
            <a:r>
              <a:t>❌ BEFORE</a:t>
            </a:r>
          </a:p>
          <a:p>
            <a:pPr>
              <a:spcBef>
                <a:spcPts val="400"/>
              </a:spcBef>
              <a:defRPr sz="1300"/>
            </a:pPr>
            <a:r>
              <a:t>1. Open Excel spreadsheet</a:t>
            </a:r>
          </a:p>
          <a:p>
            <a:pPr>
              <a:spcBef>
                <a:spcPts val="400"/>
              </a:spcBef>
              <a:defRPr sz="1300"/>
            </a:pPr>
            <a:r>
              <a:t>2. Filter by category</a:t>
            </a:r>
          </a:p>
          <a:p>
            <a:pPr>
              <a:spcBef>
                <a:spcPts val="400"/>
              </a:spcBef>
              <a:defRPr sz="1300"/>
            </a:pPr>
            <a:r>
              <a:t>3. Check defect rates</a:t>
            </a:r>
          </a:p>
          <a:p>
            <a:pPr>
              <a:spcBef>
                <a:spcPts val="400"/>
              </a:spcBef>
              <a:defRPr sz="1300"/>
            </a:pPr>
            <a:r>
              <a:t>4. Look up phone numbers</a:t>
            </a:r>
          </a:p>
          <a:p>
            <a:pPr>
              <a:spcBef>
                <a:spcPts val="400"/>
              </a:spcBef>
              <a:defRPr sz="1300"/>
            </a:pPr>
            <a:r>
              <a:t>5. Cross-reference orders</a:t>
            </a:r>
          </a:p>
          <a:p>
            <a:pPr>
              <a:spcBef>
                <a:spcPts val="400"/>
              </a:spcBef>
              <a:defRPr sz="1300"/>
            </a:pPr>
          </a:p>
          <a:p>
            <a:pPr>
              <a:spcBef>
                <a:spcPts val="400"/>
              </a:spcBef>
              <a:defRPr sz="1300"/>
            </a:pPr>
            <a:r>
              <a:t>⏱️ Time: 2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3200400"/>
            <a:ext cx="3474720" cy="2286000"/>
          </a:xfrm>
          <a:prstGeom prst="rect">
            <a:avLst/>
          </a:prstGeom>
          <a:solidFill>
            <a:srgbClr val="E8F5E9"/>
          </a:solidFill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✅ AFTER</a:t>
            </a:r>
          </a:p>
          <a:p>
            <a:pPr>
              <a:spcBef>
                <a:spcPts val="400"/>
              </a:spcBef>
              <a:defRPr sz="1300"/>
            </a:pPr>
            <a:r>
              <a:t>1. Ask SupplyWise</a:t>
            </a:r>
          </a:p>
          <a:p>
            <a:pPr>
              <a:spcBef>
                <a:spcPts val="400"/>
              </a:spcBef>
              <a:defRPr sz="1300"/>
            </a:pPr>
            <a:r>
              <a:t>2. Get instant list with:</a:t>
            </a:r>
          </a:p>
          <a:p>
            <a:pPr>
              <a:spcBef>
                <a:spcPts val="400"/>
              </a:spcBef>
              <a:defRPr sz="1300"/>
            </a:pPr>
            <a:r>
              <a:t>   • Risk scores</a:t>
            </a:r>
          </a:p>
          <a:p>
            <a:pPr>
              <a:spcBef>
                <a:spcPts val="400"/>
              </a:spcBef>
              <a:defRPr sz="1300"/>
            </a:pPr>
            <a:r>
              <a:t>   • Phone numbers</a:t>
            </a:r>
          </a:p>
          <a:p>
            <a:pPr>
              <a:spcBef>
                <a:spcPts val="400"/>
              </a:spcBef>
              <a:defRPr sz="1300"/>
            </a:pPr>
            <a:r>
              <a:t>   • Backup recommendations</a:t>
            </a:r>
          </a:p>
          <a:p>
            <a:pPr>
              <a:spcBef>
                <a:spcPts val="400"/>
              </a:spcBef>
              <a:defRPr sz="1300"/>
            </a:pPr>
          </a:p>
          <a:p>
            <a:pPr>
              <a:spcBef>
                <a:spcPts val="400"/>
              </a:spcBef>
              <a:defRPr sz="1300"/>
            </a:pPr>
            <a:r>
              <a:t>⚡ Time: 3 seconds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76072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6600"/>
                </a:solidFill>
              </a:defRPr>
            </a:pPr>
            <a:r>
              <a:t>💰 Impact: 99.96% time reduction | 240x more queries per day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Business Value &amp;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3657600" cy="1645920"/>
          </a:xfrm>
          <a:prstGeom prst="rect">
            <a:avLst/>
          </a:prstGeom>
          <a:solidFill>
            <a:srgbClr val="F8F9FA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Time Savings</a:t>
            </a:r>
          </a:p>
          <a:p>
            <a:pPr>
              <a:spcBef>
                <a:spcPts val="800"/>
              </a:spcBef>
              <a:defRPr sz="2800" b="1">
                <a:solidFill>
                  <a:srgbClr val="FF6600"/>
                </a:solidFill>
              </a:defRPr>
            </a:pPr>
            <a:r>
              <a:t>150 hrs/week</a:t>
            </a:r>
          </a:p>
          <a:p>
            <a:pPr>
              <a:spcBef>
                <a:spcPts val="600"/>
              </a:spcBef>
              <a:defRPr sz="1300"/>
            </a:pPr>
            <a:r>
              <a:t>15 hrs × 10 officers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645920"/>
            <a:ext cx="3657600" cy="1645920"/>
          </a:xfrm>
          <a:prstGeom prst="rect">
            <a:avLst/>
          </a:prstGeom>
          <a:solidFill>
            <a:srgbClr val="F8F9FA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Cost Savings</a:t>
            </a:r>
          </a:p>
          <a:p>
            <a:pPr>
              <a:spcBef>
                <a:spcPts val="800"/>
              </a:spcBef>
              <a:defRPr sz="2800" b="1">
                <a:solidFill>
                  <a:srgbClr val="FF6600"/>
                </a:solidFill>
              </a:defRPr>
            </a:pPr>
            <a:r>
              <a:t>$390K/year</a:t>
            </a:r>
          </a:p>
          <a:p>
            <a:pPr>
              <a:spcBef>
                <a:spcPts val="600"/>
              </a:spcBef>
              <a:defRPr sz="1300"/>
            </a:pPr>
            <a:r>
              <a:t>$7,500/week × 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3657600" cy="1645920"/>
          </a:xfrm>
          <a:prstGeom prst="rect">
            <a:avLst/>
          </a:prstGeom>
          <a:solidFill>
            <a:srgbClr val="F8F9FA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Risk Reduction</a:t>
            </a:r>
          </a:p>
          <a:p>
            <a:pPr>
              <a:spcBef>
                <a:spcPts val="800"/>
              </a:spcBef>
              <a:defRPr sz="2800" b="1">
                <a:solidFill>
                  <a:srgbClr val="FF6600"/>
                </a:solidFill>
              </a:defRPr>
            </a:pPr>
            <a:r>
              <a:t>$200K-300K</a:t>
            </a:r>
          </a:p>
          <a:p>
            <a:pPr>
              <a:spcBef>
                <a:spcPts val="600"/>
              </a:spcBef>
              <a:defRPr sz="1300"/>
            </a:pPr>
            <a:r>
              <a:t>Prevent 2-3 disruptions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3749039"/>
            <a:ext cx="3657600" cy="1645920"/>
          </a:xfrm>
          <a:prstGeom prst="rect">
            <a:avLst/>
          </a:prstGeom>
          <a:solidFill>
            <a:srgbClr val="F8F9FA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Total Value</a:t>
            </a:r>
          </a:p>
          <a:p>
            <a:pPr>
              <a:spcBef>
                <a:spcPts val="800"/>
              </a:spcBef>
              <a:defRPr sz="2800" b="1">
                <a:solidFill>
                  <a:srgbClr val="FF6600"/>
                </a:solidFill>
              </a:defRPr>
            </a:pPr>
            <a:r>
              <a:t>$590K-690K</a:t>
            </a:r>
          </a:p>
          <a:p>
            <a:pPr>
              <a:spcBef>
                <a:spcPts val="600"/>
              </a:spcBef>
              <a:defRPr sz="1300"/>
            </a:pPr>
            <a:r>
              <a:t>Annual benefit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9436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/>
            </a:pPr>
            <a:r>
              <a:t>📈 Payback Period: 2-3 months  |  🚀 Productivity: 240x increase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10896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FF6600"/>
                </a:solidFill>
              </a:defRPr>
            </a:pPr>
            <a:r>
              <a:t>From Fragmented Data to Instant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9768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🌐 Live Demo: http://127.0.0.1:8000/supplywise</a:t>
            </a:r>
          </a:p>
          <a:p>
            <a:pPr algn="ctr"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📊 Analytics: http://127.0.0.1:8000/analytics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94360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💰 $500K+ ROI  |  ⚡ 99.9% faster  |  ✅ 30+ real suppliers  |  🔒 Self-hosted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